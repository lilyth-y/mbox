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600" b="1">
                <a:solidFill>
                  <a:srgbClr val="E5C07B"/>
                </a:solidFill>
                <a:latin typeface="Arial"/>
              </a:defRPr>
            </a:pPr>
            <a:r>
              <a:t>PRECIOUS RECREATION</a:t>
            </a:r>
          </a:p>
          <a:p>
            <a:pPr algn="ctr">
              <a:spcAft>
                <a:spcPts val="1400"/>
              </a:spcAft>
              <a:defRPr sz="4800" b="1">
                <a:solidFill>
                  <a:srgbClr val="F0F0F5"/>
                </a:solidFill>
                <a:latin typeface="Georgia"/>
              </a:defRPr>
            </a:pPr>
            <a:r>
              <a:t>Life Cycle Memory Platform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FFB7B2"/>
                </a:solidFill>
                <a:latin typeface="Arial"/>
              </a:defRPr>
            </a:pPr>
            <a:r>
              <a:t>"AI + 3D Hologram Technologies"</a:t>
            </a:r>
          </a:p>
          <a:p>
            <a:pPr algn="ctr">
              <a:defRPr sz="1400">
                <a:solidFill>
                  <a:srgbClr val="A4BBD6"/>
                </a:solidFill>
                <a:latin typeface="Arial"/>
              </a:defRPr>
            </a:pPr>
            <a:r>
              <a:t>Memory  •  Immersion  • 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FOUNDER &amp; CEO PROFILE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Sonny (YOUNGMIN 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35 Years ICT / Mobile / Platform / Global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Education</a:t>
            </a:r>
          </a:p>
          <a:p>
            <a:pPr>
              <a:spcAft>
                <a:spcPts val="20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t>• Hanyang Univ (B.S. EE)</a:t>
            </a:r>
            <a:br/>
            <a:r>
              <a:t>• Univ. of Michigan (M.S. EE &amp; CS)</a:t>
            </a:r>
          </a:p>
          <a:p>
            <a:pPr>
              <a:spcAft>
                <a:spcPts val="6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Professional Career</a:t>
            </a:r>
          </a:p>
          <a:p>
            <a:pPr>
              <a:spcAft>
                <a:spcPts val="1400"/>
              </a:spcAft>
              <a:defRPr sz="1400">
                <a:solidFill>
                  <a:srgbClr val="F0F0F5"/>
                </a:solidFill>
                <a:latin typeface="Arial"/>
              </a:defRPr>
            </a:pPr>
            <a:r>
              <a:t>• SK Planet (2012 - 2026)</a:t>
            </a:r>
            <a:br/>
            <a:r>
              <a:t>  - PRM Leader, New Product Group Leader</a:t>
            </a:r>
            <a:br/>
            <a:r>
              <a:t>• SK Telecom (1999 - 2011)</a:t>
            </a:r>
            <a:br/>
            <a:r>
              <a:t>  - MMRC San Jose, SKT China Product Leader</a:t>
            </a:r>
            <a:br/>
            <a:r>
              <a:t>• Samsung Electronics (1993 - 1998)</a:t>
            </a:r>
            <a:br/>
            <a:r>
              <a:t>  - R&amp;D Center Research Manager</a:t>
            </a:r>
          </a:p>
        </p:txBody>
      </p:sp>
      <p:pic>
        <p:nvPicPr>
          <p:cNvPr id="5" name="Picture 4" descr="ceo_profile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PLATFORM OVERVIEW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What is MBOX?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AI + 3D 홀로그램 기반의 생애 주기 메모리 아카이빙 플랫폼</a:t>
            </a:r>
          </a:p>
        </p:txBody>
      </p:sp>
      <p:pic>
        <p:nvPicPr>
          <p:cNvPr id="4" name="Picture 3" descr="wedding_2d_in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A0AA"/>
                </a:solidFill>
                <a:latin typeface="Arial"/>
              </a:defRPr>
            </a:pPr>
            <a:r>
              <a:t>Flat 2D 원본 사진</a:t>
            </a:r>
          </a:p>
        </p:txBody>
      </p:sp>
      <p:sp>
        <p:nvSpPr>
          <p:cNvPr id="6" name="Oval 5"/>
          <p:cNvSpPr/>
          <p:nvPr/>
        </p:nvSpPr>
        <p:spPr>
          <a:xfrm>
            <a:off x="2377440" y="2560320"/>
            <a:ext cx="3474720" cy="3474720"/>
          </a:xfrm>
          <a:prstGeom prst="ellipse">
            <a:avLst/>
          </a:prstGeom>
          <a:solidFill>
            <a:srgbClr val="1C1C21"/>
          </a:solidFill>
          <a:ln w="3810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5C07B"/>
                </a:solidFill>
                <a:latin typeface="Arial"/>
              </a:defRPr>
            </a:pPr>
            <a:br/>
            <a:br/>
            <a:r>
              <a:t>[MBOX 3D HOLOGRAM]</a:t>
            </a:r>
            <a:br/>
          </a:p>
          <a:p>
            <a:pPr algn="ctr">
              <a:defRPr sz="1000">
                <a:solidFill>
                  <a:srgbClr val="F0F0F5"/>
                </a:solidFill>
                <a:latin typeface="Arial"/>
              </a:defRPr>
            </a:pPr>
            <a:r>
              <a:t>3D Rotating Cube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AI-powered automated video generation platform</a:t>
            </a:r>
          </a:p>
          <a:p>
            <a:pPr>
              <a:spcAft>
                <a:spcPts val="2000"/>
              </a:spcAft>
              <a:defRPr sz="1300">
                <a:solidFill>
                  <a:srgbClr val="F0F0F5"/>
                </a:solidFill>
                <a:latin typeface="Arial"/>
              </a:defRPr>
            </a:pPr>
            <a:r>
              <a:t>스마트폰 속 잠들어 있는 평범한 사진들을 공간적 입체감이 살아 숨쉬는 고품질 3D 홀로그램 비디오 에셋으로 단 몇 분 만에 자동 변환합니다.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5C07B"/>
                </a:solidFill>
                <a:latin typeface="Arial"/>
              </a:defRPr>
            </a:pPr>
            <a:r>
              <a:t>핵심 역량 (Core Capabilities)</a:t>
            </a:r>
          </a:p>
          <a:p>
            <a:pPr>
              <a:defRPr sz="1200">
                <a:solidFill>
                  <a:srgbClr val="F0F0F5"/>
                </a:solidFill>
                <a:latin typeface="Arial"/>
              </a:defRPr>
            </a:pPr>
            <a:r>
              <a:t>• Auto Format: 빠른 콘텐츠 어셈블리를 위한 해상도 자동 규격화</a:t>
            </a:r>
            <a:br/>
            <a:br/>
            <a:r>
              <a:t>• 3D Synthesis: 딥러닝 기반 배경 분리 및 3D 공간 레이어 합성</a:t>
            </a:r>
            <a:br/>
            <a:br/>
            <a:r>
              <a:t>• Hologram Delivery: 전용 H30 홀로그램 디바이스 즉시 송출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BUSINESS MODEL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3 Market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B2B, B2B2C, B2C를 아우르는 다각적 플랫폼 비즈니스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0624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BBD6"/>
                </a:solidFill>
                <a:latin typeface="Arial"/>
              </a:defRPr>
            </a:pPr>
            <a:r>
              <a:t>B2B MARKET</a:t>
            </a:r>
          </a:p>
          <a:p>
            <a:pPr>
              <a:spcAft>
                <a:spcPts val="2000"/>
              </a:spcAft>
              <a:defRPr sz="1200">
                <a:solidFill>
                  <a:srgbClr val="A0A0AA"/>
                </a:solidFill>
                <a:latin typeface="Arial"/>
              </a:defRPr>
            </a:pPr>
            <a:r>
              <a:t>Enterprise &amp; Government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타겟: 박물관, 전시관, 기업 홍보관 등</a:t>
            </a:r>
            <a:br/>
            <a:br/>
            <a:r>
              <a:t>• 내용: 3D 미디어 콘텐츠 제작 및 H30 홀로그램 딜리버리 시스템 통합</a:t>
            </a:r>
            <a:br/>
            <a:br/>
            <a:r>
              <a:t>• 수익: 프로젝트 단위 라이선스 및 유지관리 하드웨어 수수료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B2B2C MARKET</a:t>
            </a:r>
          </a:p>
          <a:p>
            <a:pPr>
              <a:spcAft>
                <a:spcPts val="2000"/>
              </a:spcAft>
              <a:defRPr sz="1200">
                <a:solidFill>
                  <a:srgbClr val="A0A0AA"/>
                </a:solidFill>
                <a:latin typeface="Arial"/>
              </a:defRPr>
            </a:pPr>
            <a:r>
              <a:t>Strategic Partner Integration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타겟: 반려동물 추모공원, 웨딩홀 등</a:t>
            </a:r>
            <a:br/>
            <a:br/>
            <a:r>
              <a:t>• 내용: 로비 공간 내 홀로그램 키오스크 서비스 무인 운영 연계</a:t>
            </a:r>
            <a:br/>
            <a:br/>
            <a:r>
              <a:t>• 수익: 고객 유료 서비스 구매 시 파트너사와 50:50 건당 분배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20624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B2C MARKET</a:t>
            </a:r>
          </a:p>
          <a:p>
            <a:pPr>
              <a:spcAft>
                <a:spcPts val="2000"/>
              </a:spcAft>
              <a:defRPr sz="1200">
                <a:solidFill>
                  <a:srgbClr val="A0A0AA"/>
                </a:solidFill>
                <a:latin typeface="Arial"/>
              </a:defRPr>
            </a:pPr>
            <a:r>
              <a:t>Direct-to-Consumer App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타겟: 개인 아카이빙 회원</a:t>
            </a:r>
            <a:br/>
            <a:br/>
            <a:r>
              <a:t>• 내용: MBOX 전용 모바일 앱을 통한 개인 소장용 홀로그램 콘텐츠 생성</a:t>
            </a:r>
            <a:br/>
            <a:br/>
            <a:r>
              <a:t>• 수익: 클라우드 보관 수수료 및 고품질 에셋 렌더링 구독 월회비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MARKET OPPORTUNITY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Life Cycle Memory B2B2C 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반려동물 추모 및 웨딩 플랫폼 타겟 시장 규모 산출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B2C TAM : 4,325억 원</a:t>
            </a:r>
          </a:p>
          <a:p>
            <a:pPr>
              <a:spcAft>
                <a:spcPts val="1600"/>
              </a:spcAft>
              <a:defRPr sz="1250">
                <a:solidFill>
                  <a:srgbClr val="F0F0F5"/>
                </a:solidFill>
                <a:latin typeface="Arial"/>
              </a:defRPr>
            </a:pPr>
            <a:r>
              <a:t>대한민국 인구 5천만 명 × 생애 전환기 서비스 이용 연간 LTV 60만 원 타겟 시장 규모</a:t>
            </a:r>
          </a:p>
          <a:p>
            <a:pPr>
              <a:spcAft>
                <a:spcPts val="4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B2B2C SAM : 2,100억 원</a:t>
            </a:r>
          </a:p>
          <a:p>
            <a:pPr>
              <a:spcAft>
                <a:spcPts val="1600"/>
              </a:spcAft>
              <a:defRPr sz="1250">
                <a:solidFill>
                  <a:srgbClr val="F0F0F5"/>
                </a:solidFill>
                <a:latin typeface="Arial"/>
              </a:defRPr>
            </a:pPr>
            <a:r>
              <a:t>전국 반려동물 추모공원 12.1만 안치, 장례 35만, 연간 예식 24만 건 기반 결합 디지털 사이니지 시장 규모</a:t>
            </a:r>
          </a:p>
          <a:p>
            <a:pPr>
              <a:spcAft>
                <a:spcPts val="400"/>
              </a:spcAft>
              <a:defRPr sz="1800" b="1">
                <a:solidFill>
                  <a:srgbClr val="A4BBD6"/>
                </a:solidFill>
                <a:latin typeface="Arial"/>
              </a:defRPr>
            </a:pPr>
            <a:r>
              <a:t>B2B SOM : 5,075억 원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국내 디지털 미디어 사이니지 시장 규모 1.3조 원 중 플랫폼 딜리버리 및 장비 락인 실현 가능 초기 점유 시장</a:t>
            </a:r>
          </a:p>
        </p:txBody>
      </p:sp>
      <p:sp>
        <p:nvSpPr>
          <p:cNvPr id="5" name="Oval 4"/>
          <p:cNvSpPr/>
          <p:nvPr/>
        </p:nvSpPr>
        <p:spPr>
          <a:xfrm>
            <a:off x="7589520" y="2103120"/>
            <a:ext cx="3474720" cy="3474720"/>
          </a:xfrm>
          <a:prstGeom prst="ellipse">
            <a:avLst/>
          </a:prstGeom>
          <a:solidFill>
            <a:srgbClr val="26262B"/>
          </a:solidFill>
          <a:ln w="5080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2926080"/>
            <a:ext cx="1828800" cy="1828800"/>
          </a:xfrm>
          <a:prstGeom prst="ellipse">
            <a:avLst/>
          </a:prstGeom>
          <a:solidFill>
            <a:srgbClr val="1C1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5C07B"/>
                </a:solidFill>
                <a:latin typeface="Arial"/>
              </a:defRPr>
            </a:pPr>
            <a:br/>
            <a:r>
              <a:t>Platform TAM</a:t>
            </a:r>
            <a:br/>
            <a:r>
              <a:t>1.15조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AI ENGINE PIPELINE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AI Video Technology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스마트폰의 평면 사진을 3D 홀로그램 비디오 에셋으로 자동화 연산하는 핵심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Photo Upload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스마트폰 2D 원본 사진 업로드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175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C07B"/>
                </a:solidFill>
                <a:latin typeface="Arial"/>
              </a:defRPr>
            </a:pPr>
            <a:r>
              <a:t>➡️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AI Segment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피사체 추출 및 배경 실시간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0175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C07B"/>
                </a:solidFill>
                <a:latin typeface="Arial"/>
              </a:defRPr>
            </a:pPr>
            <a:r>
              <a:t>➡️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Template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H30 디바이스 전용 1024×1024 규격화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0175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C07B"/>
                </a:solidFill>
                <a:latin typeface="Arial"/>
              </a:defRPr>
            </a:pPr>
            <a:r>
              <a:t>➡️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BG Synthesis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3D 깊이 맵(Depth Map) 자동 연산 및 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175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C07B"/>
                </a:solidFill>
                <a:latin typeface="Arial"/>
              </a:defRPr>
            </a:pPr>
            <a:r>
              <a:t>➡️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Rendering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30fps 실시간 고품질 비디오 인코딩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01752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C07B"/>
                </a:solidFill>
                <a:latin typeface="Arial"/>
              </a:defRPr>
            </a:pPr>
            <a:r>
              <a:t>➡️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828800"/>
            <a:ext cx="14630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20" y="2103120"/>
            <a:ext cx="548640" cy="548640"/>
          </a:xfrm>
          <a:prstGeom prst="ellipse">
            <a:avLst/>
          </a:prstGeom>
          <a:solidFill>
            <a:srgbClr val="FF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C1C2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834640"/>
            <a:ext cx="1280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50" b="1">
                <a:solidFill>
                  <a:srgbClr val="F0F0F5"/>
                </a:solidFill>
                <a:latin typeface="Arial"/>
              </a:defRPr>
            </a:pPr>
            <a:r>
              <a:t>Distribution</a:t>
            </a:r>
          </a:p>
          <a:p>
            <a:pPr algn="ctr">
              <a:defRPr sz="1050">
                <a:solidFill>
                  <a:srgbClr val="A0A0AA"/>
                </a:solidFill>
                <a:latin typeface="Arial"/>
              </a:defRPr>
            </a:pPr>
            <a:r>
              <a:t>H30 디바이스 즉시 송출 배포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57800"/>
            <a:ext cx="101800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B7B2"/>
                </a:solidFill>
                <a:latin typeface="Arial"/>
              </a:defRPr>
            </a:pPr>
            <a:r>
              <a:t>💡 로컬 우선(Local-First) 자동화 연산:</a:t>
            </a:r>
          </a:p>
          <a:p>
            <a:pPr>
              <a:defRPr sz="1100">
                <a:solidFill>
                  <a:srgbClr val="F0F0F5"/>
                </a:solidFill>
                <a:latin typeface="Arial"/>
              </a:defRPr>
            </a:pPr>
            <a:r>
              <a:t>MBOX AI 엔진 파이프라인은 모든 연산 과정을 네트워크 레이텐시 없이 디바이스 로컬에서 수 분 내에 처리하도록 최적화되어 있어, 상용화 즉시 비용 효율적인 대규모 확장이 가능합니다.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MARKET VERTICAL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Life's Every Moment : 생애 주기 카테고리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인간 생애 전반의 소중한 로맨틱 마일스톤과 추모 패밀리 아카이브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B7B2"/>
                </a:solidFill>
                <a:latin typeface="Arial"/>
              </a:defRPr>
            </a:pPr>
            <a:r>
              <a:t>Memorial Album</a:t>
            </a:r>
          </a:p>
          <a:p>
            <a:pPr>
              <a:spcAft>
                <a:spcPts val="1400"/>
              </a:spcAft>
              <a:defRPr sz="1300">
                <a:solidFill>
                  <a:srgbClr val="A0A0AA"/>
                </a:solidFill>
                <a:latin typeface="Arial"/>
              </a:defRPr>
            </a:pPr>
            <a:r>
              <a:t>반려동물 및 장례 추모 헌정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반려견/반려묘와의 추억 공간 복원</a:t>
            </a:r>
            <a:br/>
            <a:br/>
            <a:r>
              <a:t>• 장례식장 및 납골당 내 입체 추모관 연동</a:t>
            </a:r>
            <a:br/>
            <a:br/>
            <a:r>
              <a:t>• 이별의 슬픔을 넘어선 따뜻한 디지털 헌정 앨범 제공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5C07B"/>
                </a:solidFill>
                <a:latin typeface="Arial"/>
              </a:defRPr>
            </a:pPr>
            <a:r>
              <a:t>Love &amp; Wedding</a:t>
            </a:r>
          </a:p>
          <a:p>
            <a:pPr>
              <a:spcAft>
                <a:spcPts val="1400"/>
              </a:spcAft>
              <a:defRPr sz="1300">
                <a:solidFill>
                  <a:srgbClr val="A0A0AA"/>
                </a:solidFill>
                <a:latin typeface="Arial"/>
              </a:defRPr>
            </a:pPr>
            <a:r>
              <a:t>로맨틱 마일스톤 및 웨딩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결혼식장 로비 3D 웰컴 보드 시청</a:t>
            </a:r>
            <a:br/>
            <a:br/>
            <a:r>
              <a:t>• 신랑신부 프로포즈 및 러브스토리 입체 복원</a:t>
            </a:r>
            <a:br/>
            <a:br/>
            <a:r>
              <a:t>• 하객들에게 생생하고 차별화된 시각적 공간 연출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A4BBD6"/>
                </a:solidFill>
                <a:latin typeface="Arial"/>
              </a:defRPr>
            </a:pPr>
            <a:r>
              <a:t>Family &amp; Travel</a:t>
            </a:r>
          </a:p>
          <a:p>
            <a:pPr>
              <a:spcAft>
                <a:spcPts val="1400"/>
              </a:spcAft>
              <a:defRPr sz="1300">
                <a:solidFill>
                  <a:srgbClr val="A0A0AA"/>
                </a:solidFill>
                <a:latin typeface="Arial"/>
              </a:defRPr>
            </a:pPr>
            <a:r>
              <a:t>가족 연대기 및 여행 저널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부모님 칠순/팔순 기념 아카이브</a:t>
            </a:r>
            <a:br/>
            <a:br/>
            <a:r>
              <a:t>• 아이 성장 일기 및 가족 여행 입체 렌더링</a:t>
            </a:r>
            <a:br/>
            <a:br/>
            <a:r>
              <a:t>• 평범한 거실 공간을 몰입형 생애 미술관으로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USE CASE 01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반려동물 추모 서비스 : 강아지 (Pet Memorial)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추모공원 H30 디바이스를 통한 감성 펫로스 치유 및 아카이브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B7B2"/>
                </a:solidFill>
                <a:latin typeface="Arial"/>
              </a:defRPr>
            </a:pPr>
            <a:r>
              <a:t>THE CHALLENGE (시장 통증)</a:t>
            </a:r>
          </a:p>
          <a:p>
            <a:pPr>
              <a:spcAft>
                <a:spcPts val="1200"/>
              </a:spcAft>
              <a:defRPr sz="1200">
                <a:solidFill>
                  <a:srgbClr val="F0F0F5"/>
                </a:solidFill>
                <a:latin typeface="Arial"/>
              </a:defRPr>
            </a:pPr>
            <a:r>
              <a:t>국내 반려인 1,500만 시대, 반려견의 죽음으로 인한 '펫로스 증후군(Pet Loss Syndrome)'은 심각한 사회적 현상이지만 감성적인 추모 솔루션이 부재합니다.</a:t>
            </a:r>
          </a:p>
          <a:p>
            <a:pPr>
              <a:spcAft>
                <a:spcPts val="200"/>
              </a:spcAft>
              <a:defRPr sz="1500" b="1">
                <a:solidFill>
                  <a:srgbClr val="E5C07B"/>
                </a:solidFill>
                <a:latin typeface="Arial"/>
              </a:defRPr>
            </a:pPr>
            <a:r>
              <a:t>OUR SOLUTION (MBOX 해결책)</a:t>
            </a:r>
          </a:p>
          <a:p>
            <a:pPr>
              <a:spcAft>
                <a:spcPts val="1200"/>
              </a:spcAft>
              <a:defRPr sz="1200">
                <a:solidFill>
                  <a:srgbClr val="F0F0F5"/>
                </a:solidFill>
                <a:latin typeface="Arial"/>
              </a:defRPr>
            </a:pPr>
            <a:r>
              <a:t>추모공원 내 H30 입체 홀로그램 디스플레이 키오스크를 도입, AI 엔진이 반려견 평면 사진을 분석하여 12가지 생생한 감정선 맞춤 입체 콘텐츠를 복원 상영합니다.</a:t>
            </a:r>
          </a:p>
          <a:p>
            <a:pPr>
              <a:spcAft>
                <a:spcPts val="200"/>
              </a:spcAft>
              <a:defRPr sz="1500" b="1">
                <a:solidFill>
                  <a:srgbClr val="A4BBD6"/>
                </a:solidFill>
                <a:latin typeface="Arial"/>
              </a:defRPr>
            </a:pPr>
            <a:r>
              <a:t>DIFFERENTIATION (차별화 요소)</a:t>
            </a:r>
          </a:p>
          <a:p>
            <a:pPr>
              <a:defRPr sz="1200">
                <a:solidFill>
                  <a:srgbClr val="F0F0F5"/>
                </a:solidFill>
                <a:latin typeface="Arial"/>
              </a:defRPr>
            </a:pPr>
            <a:r>
              <a:t>국내 최초의 3D 홀로그램 펫 추모 기술력, 반려동물 납골당과 연계하는 B2B2C 파트너십 상생 비즈니스 모델, 24시간 무인 키오스크 자동화 시스템 및 감성 반응형 AI를 실현합니다.</a:t>
            </a:r>
          </a:p>
        </p:txBody>
      </p:sp>
      <p:pic>
        <p:nvPicPr>
          <p:cNvPr id="5" name="Picture 4" descr="dog_hologram_mem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GO-TO-MARKET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Pet Memorial B2B2C 수익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전국 반려동물 추모공원(납골당) 파트너십 구축 및 유료 연회원(Renewal) 기반 성장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E5C07B"/>
                </a:solidFill>
                <a:latin typeface="Arial"/>
              </a:defRPr>
            </a:pPr>
            <a:r>
              <a:t>1.57억 원</a:t>
            </a:r>
          </a:p>
          <a:p>
            <a:pPr algn="ctr">
              <a:defRPr sz="1300">
                <a:solidFill>
                  <a:srgbClr val="F0F0F5"/>
                </a:solidFill>
                <a:latin typeface="Arial"/>
              </a:defRPr>
            </a:pPr>
            <a:r>
              <a:t>2026 (도입기)</a:t>
            </a:r>
            <a:br/>
            <a:br/>
            <a:r>
              <a:t>• 파트너 납골당 5곳 확보</a:t>
            </a:r>
            <a:br/>
            <a:r>
              <a:t>• 유료 아카이빙 회원 350명 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FFB7B2"/>
                </a:solidFill>
                <a:latin typeface="Arial"/>
              </a:defRPr>
            </a:pPr>
            <a:r>
              <a:t>6.56억 원</a:t>
            </a:r>
          </a:p>
          <a:p>
            <a:pPr algn="ctr">
              <a:defRPr sz="1300">
                <a:solidFill>
                  <a:srgbClr val="F0F0F5"/>
                </a:solidFill>
                <a:latin typeface="Arial"/>
              </a:defRPr>
            </a:pPr>
            <a:r>
              <a:t>2027 (성장기)</a:t>
            </a:r>
            <a:br/>
            <a:br/>
            <a:r>
              <a:t>• 파트너 납골당 20곳 확장</a:t>
            </a:r>
            <a:br/>
            <a:r>
              <a:t>• 갱신 포함 회원 1,575명 누적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A4BBD6"/>
                </a:solidFill>
                <a:latin typeface="Arial"/>
              </a:defRPr>
            </a:pPr>
            <a:r>
              <a:t>16.9억 원</a:t>
            </a:r>
          </a:p>
          <a:p>
            <a:pPr algn="ctr">
              <a:defRPr sz="1300">
                <a:solidFill>
                  <a:srgbClr val="F0F0F5"/>
                </a:solidFill>
                <a:latin typeface="Arial"/>
              </a:defRPr>
            </a:pPr>
            <a:r>
              <a:t>2028 (확장기)</a:t>
            </a:r>
            <a:br/>
            <a:br/>
            <a:r>
              <a:t>• 파트너 납골당 50곳 선점</a:t>
            </a:r>
            <a:br/>
            <a:r>
              <a:t>• 누적 갱신 회원 4,287명 락인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26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C07B"/>
                </a:solidFill>
                <a:latin typeface="Arial"/>
              </a:defRPr>
            </a:pPr>
            <a:r>
              <a:t>📊 산출 근거 (Basis): 반려동물 추모공원 납골당 평균 안치 1,600건 기준, 잠재 고객 30%(500명) 타겟팅</a:t>
            </a:r>
          </a:p>
          <a:p>
            <a:pPr>
              <a:spcAft>
                <a:spcPts val="600"/>
              </a:spcAft>
              <a:defRPr sz="1150">
                <a:solidFill>
                  <a:srgbClr val="FFB7B2"/>
                </a:solidFill>
                <a:latin typeface="Arial"/>
              </a:defRPr>
            </a:pPr>
            <a:r>
              <a:t>🔄 유료 전환율 (Conversion): 체험 고객 중 35% 연회원 전환 가정 (Basic 30만 원 / Premium 50만 원 구성)</a:t>
            </a:r>
          </a:p>
          <a:p>
            <a:pPr>
              <a:defRPr sz="1150">
                <a:solidFill>
                  <a:srgbClr val="A4BBD6"/>
                </a:solidFill>
                <a:latin typeface="Arial"/>
              </a:defRPr>
            </a:pPr>
            <a:r>
              <a:t>📈 갱신 및 재구독 (Renewal): 누적 갱신 회원의 지속적 추가로 시간이 갈수록 기하급수적으로 이익률 상승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USE CASE 02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웨딩 메모리얼 서비스 (Wedding Memorial)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웨딩홀 로비 MBOX 홀로그램 보드로 하객 대기 공간 경험 및 가치 혁신</a:t>
            </a:r>
          </a:p>
        </p:txBody>
      </p:sp>
      <p:pic>
        <p:nvPicPr>
          <p:cNvPr id="4" name="Picture 3" descr="wedding_hologram_mem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297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6459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A4BBD6"/>
                </a:solidFill>
                <a:latin typeface="Arial"/>
              </a:defRPr>
            </a:pPr>
            <a:r>
              <a:t>CONCEPT (공간 경험의 혁신)</a:t>
            </a:r>
          </a:p>
          <a:p>
            <a:pPr>
              <a:spcAft>
                <a:spcPts val="1200"/>
              </a:spcAft>
              <a:defRPr sz="1200">
                <a:solidFill>
                  <a:srgbClr val="F0F0F5"/>
                </a:solidFill>
                <a:latin typeface="Arial"/>
              </a:defRPr>
            </a:pPr>
            <a:r>
              <a:t>웨딩홀 로비에서 하객들이 대기하는 지루한 약 30분의 시간을 H30 입체 홀로그램 디스플레이를 활용한 '두 사람의 가장 아름답고 눈부신 러브스토리 시청의 순간'으로 재창조하여 품격을 높입니다.</a:t>
            </a:r>
          </a:p>
          <a:p>
            <a:pPr>
              <a:spcAft>
                <a:spcPts val="200"/>
              </a:spcAft>
              <a:defRPr sz="1500" b="1">
                <a:solidFill>
                  <a:srgbClr val="FFB7B2"/>
                </a:solidFill>
                <a:latin typeface="Arial"/>
              </a:defRPr>
            </a:pPr>
            <a:r>
              <a:t>CONTENT CREATION (완전 자동화)</a:t>
            </a:r>
          </a:p>
          <a:p>
            <a:pPr>
              <a:spcAft>
                <a:spcPts val="1200"/>
              </a:spcAft>
              <a:defRPr sz="1200">
                <a:solidFill>
                  <a:srgbClr val="F0F0F5"/>
                </a:solidFill>
                <a:latin typeface="Arial"/>
              </a:defRPr>
            </a:pPr>
            <a:r>
              <a:t>신랑신부가 제출한 20~40장의 일반 평면 스마트폰 사진을 MBOX AI 엔진이 1024×1024 포맷의 3D 입체 에셋으로 변환하여, 각 사진당 3~5초의 트랜지션과 입체 배경을 합성한 30분 분량의 로비 대기 특화 재생 목록을 즉시 생성합니다.</a:t>
            </a:r>
          </a:p>
          <a:p>
            <a:pPr>
              <a:spcAft>
                <a:spcPts val="200"/>
              </a:spcAft>
              <a:defRPr sz="1500" b="1">
                <a:solidFill>
                  <a:srgbClr val="E5C07B"/>
                </a:solidFill>
                <a:latin typeface="Arial"/>
              </a:defRPr>
            </a:pPr>
            <a:r>
              <a:t>BUSINESS VALUE (비즈니스적 윈윈)</a:t>
            </a:r>
          </a:p>
          <a:p>
            <a:pPr>
              <a:defRPr sz="1200">
                <a:solidFill>
                  <a:srgbClr val="F0F0F5"/>
                </a:solidFill>
                <a:latin typeface="Arial"/>
              </a:defRPr>
            </a:pPr>
            <a:r>
              <a:t>웨딩홀 파트너는 추가 인력이나 별도 편집 수고 없이 무인으로 시스템을 운영하며, MBOX와의 50:50 수익 배분을 통해 연간 약 5천만 원 이상의 개별 고부가가치 부가 수익을 창출하는 완벽한 윈윈 비즈니스를 실현합니다.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GO-TO-MARKET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Wedding Memorial B2B2C 수익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전국 웨딩홀 파트너십 구축 및 예식당 건별 과금(Pay-per-use) + 50:50 수익 배분 성장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E5C07B"/>
                </a:solidFill>
                <a:latin typeface="Arial"/>
              </a:defRPr>
            </a:pPr>
            <a:r>
              <a:t>1.8억 원</a:t>
            </a:r>
          </a:p>
          <a:p>
            <a:pPr algn="ctr">
              <a:defRPr sz="1250">
                <a:solidFill>
                  <a:srgbClr val="F0F0F5"/>
                </a:solidFill>
                <a:latin typeface="Arial"/>
              </a:defRPr>
            </a:pPr>
            <a:r>
              <a:t>2026 (도입기)</a:t>
            </a:r>
            <a:br/>
            <a:br/>
            <a:r>
              <a:t>• 파트너 웨딩홀 20곳 확보</a:t>
            </a:r>
            <a:br/>
            <a:r>
              <a:t>• 연간 1,200건 예식 적용</a:t>
            </a:r>
            <a:br/>
            <a:r>
              <a:t>• (MBOX Net Share: 50% 분배)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FFB7B2"/>
                </a:solidFill>
                <a:latin typeface="Arial"/>
              </a:defRPr>
            </a:pPr>
            <a:r>
              <a:t>7.2억 원</a:t>
            </a:r>
          </a:p>
          <a:p>
            <a:pPr algn="ctr">
              <a:defRPr sz="1250">
                <a:solidFill>
                  <a:srgbClr val="F0F0F5"/>
                </a:solidFill>
                <a:latin typeface="Arial"/>
              </a:defRPr>
            </a:pPr>
            <a:r>
              <a:t>2027 (성장기)</a:t>
            </a:r>
            <a:br/>
            <a:br/>
            <a:r>
              <a:t>• 파트너 웨딩홀 60곳 확장</a:t>
            </a:r>
            <a:br/>
            <a:r>
              <a:t>• 연간 4,800건 예식 적용</a:t>
            </a:r>
            <a:br/>
            <a:r>
              <a:t>• (무인 자동화 정산 모델 확장)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A4BBD6"/>
                </a:solidFill>
                <a:latin typeface="Arial"/>
              </a:defRPr>
            </a:pPr>
            <a:r>
              <a:t>18.0억 원</a:t>
            </a:r>
          </a:p>
          <a:p>
            <a:pPr algn="ctr">
              <a:defRPr sz="1250">
                <a:solidFill>
                  <a:srgbClr val="F0F0F5"/>
                </a:solidFill>
                <a:latin typeface="Arial"/>
              </a:defRPr>
            </a:pPr>
            <a:r>
              <a:t>2028 (확장기)</a:t>
            </a:r>
            <a:br/>
            <a:br/>
            <a:r>
              <a:t>• 파트너 웨딩홀 150곳 선점</a:t>
            </a:r>
            <a:br/>
            <a:r>
              <a:t>• 연간 12,000건 달성 (M/S 5%)</a:t>
            </a:r>
            <a:br/>
            <a:r>
              <a:t>• 연 18억 독점적 플랫폼 매출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26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E5C07B"/>
                </a:solidFill>
                <a:latin typeface="Arial"/>
              </a:defRPr>
            </a:pPr>
            <a:r>
              <a:t>📊 산출 근거 (Basis): 전국 웨딩홀 평균 예식 수 연 320건 기준, 대기 하객 대상 MBOX 패키지 30%(96건) 도입 타겟</a:t>
            </a:r>
          </a:p>
          <a:p>
            <a:pPr>
              <a:spcAft>
                <a:spcPts val="600"/>
              </a:spcAft>
              <a:defRPr sz="1150">
                <a:solidFill>
                  <a:srgbClr val="FFB7B2"/>
                </a:solidFill>
                <a:latin typeface="Arial"/>
              </a:defRPr>
            </a:pPr>
            <a:r>
              <a:t>🔄 수익 배분 모델 (Split): 예식당 30만 원 패키지 적용 시, 웨딩홀 파트너와 MBOX 간의 50:50 수익 정산 모델 수립</a:t>
            </a:r>
          </a:p>
          <a:p>
            <a:pPr>
              <a:defRPr sz="1150">
                <a:solidFill>
                  <a:srgbClr val="A4BBD6"/>
                </a:solidFill>
                <a:latin typeface="Arial"/>
              </a:defRPr>
            </a:pPr>
            <a:r>
              <a:t>📈 확장 시너지 (Synergy): 전국 733개 웨딩홀 network로 신속한 락인(Lock-in) 효과 발생 및 플랫폼 기반 웨딩 생태계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TECHNICAL FOUNDATION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Core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MBOX 플랫폼의 지속적인 경쟁력을 유지하는 핵심 기술 요소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3D Hologram H30</a:t>
            </a:r>
          </a:p>
          <a:p>
            <a:pPr>
              <a:defRPr sz="1300">
                <a:solidFill>
                  <a:srgbClr val="F0F0F5"/>
                </a:solidFill>
                <a:latin typeface="Arial"/>
              </a:defRPr>
            </a:pPr>
            <a:r>
              <a:t>• 1024×1024 고해상도</a:t>
            </a:r>
            <a:br/>
            <a:br/>
            <a:r>
              <a:t>• 24fps H.264 High + AAC 오디오 지원</a:t>
            </a:r>
            <a:br/>
            <a:br/>
            <a:r>
              <a:t>• 1:1 몰입형 디스플레이 레이아웃 설계</a:t>
            </a:r>
            <a:br/>
            <a:br/>
            <a:r>
              <a:t>• HoloVision H30 전용 하드웨어 연동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A4BBD6"/>
                </a:solidFill>
                <a:latin typeface="Arial"/>
              </a:defRPr>
            </a:pPr>
            <a:r>
              <a:t>Local-First AI</a:t>
            </a:r>
          </a:p>
          <a:p>
            <a:pPr>
              <a:defRPr sz="1300">
                <a:solidFill>
                  <a:srgbClr val="F0F0F5"/>
                </a:solidFill>
                <a:latin typeface="Arial"/>
              </a:defRPr>
            </a:pPr>
            <a:r>
              <a:t>• Whisper.cpp (STT) 음성 인식 최적화</a:t>
            </a:r>
            <a:br/>
            <a:br/>
            <a:r>
              <a:t>• Llama.cpp / Ollama 로컬 LLM 통합</a:t>
            </a:r>
            <a:br/>
            <a:br/>
            <a:r>
              <a:t>• On-device 처리를 통한 고객 데이터 누출 원천 차단</a:t>
            </a:r>
            <a:br/>
            <a:br/>
            <a:r>
              <a:t>• 외부망 장애 시에도 무중단 안정적 상영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12-Emotion Routing</a:t>
            </a:r>
          </a:p>
          <a:p>
            <a:pPr>
              <a:defRPr sz="1300">
                <a:solidFill>
                  <a:srgbClr val="F0F0F5"/>
                </a:solidFill>
                <a:latin typeface="Arial"/>
              </a:defRPr>
            </a:pPr>
            <a:r>
              <a:t>• 12가지의 감정 스펙트럼 세밀 분석</a:t>
            </a:r>
            <a:br/>
            <a:br/>
            <a:r>
              <a:t>• 감정 매칭 알고리즘을 통한 맞춤형 테마 및 음악 매칭</a:t>
            </a:r>
            <a:br/>
            <a:br/>
            <a:r>
              <a:t>• 슬픔, 따뜻함, 행복 등 하객 반응형 AI 인터랙션 제공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ENGINEERING ORGANIZATION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Core Engineering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상용화 수준의 딥테크를 최적 설계하는 MBOX 핵심 엔지니어 역량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A4B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4BBD6"/>
                </a:solidFill>
                <a:latin typeface="Arial"/>
              </a:defRPr>
            </a:pPr>
            <a:r>
              <a:t>AI Vision Lab</a:t>
            </a:r>
          </a:p>
          <a:p>
            <a:pPr>
              <a:spcAft>
                <a:spcPts val="1400"/>
              </a:spcAft>
              <a:defRPr sz="1100">
                <a:solidFill>
                  <a:srgbClr val="A0A0AA"/>
                </a:solidFill>
                <a:latin typeface="Arial"/>
              </a:defRPr>
            </a:pPr>
            <a:r>
              <a:t>Generative AI &amp; LLM Experts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단순 API 연동이 아닌 로컬 모델 자체 경량화/최적화</a:t>
            </a:r>
            <a:br/>
            <a:br/>
            <a:r>
              <a:t>• 1024×1024 해상도 피사체 실시간 분리 및 깊이 맵 합성</a:t>
            </a:r>
            <a:br/>
            <a:br/>
            <a:r>
              <a:t>• 12-감정선 분석 라우팅 독자 알고리즘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Media Engine Team</a:t>
            </a:r>
          </a:p>
          <a:p>
            <a:pPr>
              <a:spcAft>
                <a:spcPts val="1400"/>
              </a:spcAft>
              <a:defRPr sz="1100">
                <a:solidFill>
                  <a:srgbClr val="A0A0AA"/>
                </a:solidFill>
                <a:latin typeface="Arial"/>
              </a:defRPr>
            </a:pPr>
            <a:r>
              <a:t>3D Rendering &amp; Video Processing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Zero-latency 비디오 자동 생성 파이프라인 최적 설계</a:t>
            </a:r>
            <a:br/>
            <a:br/>
            <a:r>
              <a:t>• 24fps H.264 High 인코딩 무인 자동화 서버 구축</a:t>
            </a:r>
            <a:br/>
            <a:br/>
            <a:r>
              <a:t>• 대용량 홀로그램 멀티채널 배포 인프라 및 CDN 아키텍처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9260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B7B2"/>
                </a:solidFill>
                <a:latin typeface="Arial"/>
              </a:defRPr>
            </a:pPr>
            <a:r>
              <a:t>Hardware Infra</a:t>
            </a:r>
          </a:p>
          <a:p>
            <a:pPr>
              <a:spcAft>
                <a:spcPts val="1400"/>
              </a:spcAft>
              <a:defRPr sz="1100">
                <a:solidFill>
                  <a:srgbClr val="A0A0AA"/>
                </a:solidFill>
                <a:latin typeface="Arial"/>
              </a:defRPr>
            </a:pPr>
            <a:r>
              <a:t>IoT &amp; Embedded Systems</a:t>
            </a:r>
          </a:p>
          <a:p>
            <a:pPr>
              <a:defRPr sz="1250">
                <a:solidFill>
                  <a:srgbClr val="F0F0F5"/>
                </a:solidFill>
                <a:latin typeface="Arial"/>
              </a:defRPr>
            </a:pPr>
            <a:r>
              <a:t>• HoloVision H30 전용 광학/드라이버 하드웨어 직접 설계</a:t>
            </a:r>
            <a:br/>
            <a:br/>
            <a:r>
              <a:t>• 24시간 무인 운영을 위한 온도/무결점 제어 회로 설계</a:t>
            </a:r>
            <a:br/>
            <a:br/>
            <a:r>
              <a:t>• 원격 모니터링 및 OTA 보안 펌웨어 라이브러리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5C07B"/>
                </a:solidFill>
                <a:latin typeface="Arial"/>
              </a:defRPr>
            </a:pPr>
            <a:r>
              <a:t>COOPERATION &amp; ECOSYSTEM</a:t>
            </a:r>
          </a:p>
          <a:p>
            <a:pPr>
              <a:defRPr sz="2600" b="1">
                <a:solidFill>
                  <a:srgbClr val="F0F0F5"/>
                </a:solidFill>
                <a:latin typeface="Arial"/>
              </a:defRPr>
            </a:pPr>
            <a:r>
              <a:t>BI Center × MBOX × HoloVision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5720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A0A0AA"/>
                </a:solidFill>
                <a:latin typeface="Arial"/>
              </a:defRPr>
            </a:pPr>
            <a:r>
              <a:t>산학 협력을 통한 R&amp;D 기술 고도화 및 미래 AI 서비스 확장 생태계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E5C07B"/>
                </a:solidFill>
                <a:latin typeface="Arial"/>
              </a:defRPr>
            </a:pPr>
            <a:r>
              <a:t>MBOX SYNERGY CIRCLE</a:t>
            </a:r>
          </a:p>
          <a:p>
            <a:pPr>
              <a:defRPr sz="1400">
                <a:solidFill>
                  <a:srgbClr val="F0F0F5"/>
                </a:solidFill>
                <a:latin typeface="Arial"/>
              </a:defRPr>
            </a:pPr>
            <a:r>
              <a:t>🌐 BI Center (Hanshin Univ.)</a:t>
            </a:r>
            <a:br/>
            <a:r>
              <a:t>  - 인큐베이션 공간 제공, 특허 매핑, 국책 R&amp;D 프로젝트 발굴</a:t>
            </a:r>
            <a:br/>
            <a:br/>
            <a:r>
              <a:t>🤖 MBOX (Core AI Engine)</a:t>
            </a:r>
            <a:br/>
            <a:r>
              <a:t>  - AI Vision, 3D 합성, 12-감정선 라우팅 알고리즘 개발 주도</a:t>
            </a:r>
            <a:br/>
            <a:br/>
            <a:r>
              <a:t>🖥️ HoloVision (Display HW)</a:t>
            </a:r>
            <a:br/>
            <a:r>
              <a:t>  - H30 전용 광학 디바이스 및 하드웨어 모니터링 인프라 양산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F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B7B2"/>
                </a:solidFill>
                <a:latin typeface="Arial"/>
              </a:defRPr>
            </a:pPr>
            <a:r>
              <a:t>AS-IS: 현 협력 현황 (Current Progress)</a:t>
            </a:r>
          </a:p>
          <a:p>
            <a:pPr>
              <a:defRPr sz="1200">
                <a:solidFill>
                  <a:srgbClr val="F0F0F5"/>
                </a:solidFill>
                <a:latin typeface="Arial"/>
              </a:defRPr>
            </a:pPr>
            <a:r>
              <a:t>• 한신대 BI 센터 내 입주 공간 확보 및 인프라 지원</a:t>
            </a:r>
            <a:br/>
            <a:r>
              <a:t>• H30 디스플레이 시제품 테스트 및 local-first AI 1차 고도화 완료</a:t>
            </a:r>
            <a:br/>
            <a:r>
              <a:t>• 지식재산권(특허) 출원 연계 컨설팅 프로세스 지원 진행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26262B"/>
          </a:solidFill>
          <a:ln w="1905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06908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5C07B"/>
                </a:solidFill>
                <a:latin typeface="Arial"/>
              </a:defRPr>
            </a:pPr>
            <a:r>
              <a:t>TO-BE: 향후 확장 비전 (Future Synergy)</a:t>
            </a:r>
          </a:p>
          <a:p>
            <a:pPr>
              <a:defRPr sz="1200">
                <a:solidFill>
                  <a:srgbClr val="F0F0F5"/>
                </a:solidFill>
                <a:latin typeface="Arial"/>
              </a:defRPr>
            </a:pPr>
            <a:r>
              <a:t>• 산학 R&amp;D 공동 연구 및 AI/광학 관련 특허 공동 출원 진행</a:t>
            </a:r>
            <a:br/>
            <a:r>
              <a:t>• AI 미디어 연산 특화 정부 지원 과제 공동 수주</a:t>
            </a:r>
            <a:br/>
            <a:r>
              <a:t>• 플랫폼 인프라 기반의 메타버스/공간 컴퓨팅 고부가가치 응용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